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62" r:id="rId4"/>
    <p:sldId id="257" r:id="rId5"/>
    <p:sldId id="259" r:id="rId6"/>
    <p:sldId id="265" r:id="rId7"/>
    <p:sldId id="263" r:id="rId8"/>
    <p:sldId id="258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074DE-759E-415F-BE2E-EC75D99A99E0}" v="6" dt="2026-04-01T07:45:50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E323C-A749-472A-B7B2-D189E225C6C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51FA7-CF0F-4252-930E-A22D00B3D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1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51FA7-CF0F-4252-930E-A22D00B3DA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75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7EA7-EF0C-5E34-D15A-7B50AD1C0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F2227-0EBA-1987-5CAF-91C6813D4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15194-464E-C139-8538-556A1CE2E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F7530-5A44-FA6E-5F51-8917805C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AA88E-1071-0ACD-A7B5-ABFF9181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3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5E8E-9B6D-1ED1-E22F-21089BCE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769B-2073-FE99-9D53-EBB820FFB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5ECB7-7DDF-DBF0-7694-149B665A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5D393-8FE6-5AA2-F53D-688E87B92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D7EC5-0DE5-61B9-2AB5-46222D03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2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CA6E-685D-A8AE-0A66-FB3B9EC6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9DECC-CF54-F500-4D57-227D33056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870DD-6FCE-D57F-3983-089F68FD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39C2A-D58A-E97F-43B1-32C341760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76210-82A3-D7C0-7A54-2E29E96C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0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F63B-F5E6-1473-619A-85203ACF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E9C1E-7C83-7279-8238-978546184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A924D-5281-B256-F708-182297A2D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C0ECA-F198-EA2A-4594-2898F4BC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0C847-EA1C-D5B2-1314-469765BE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20D82-A4AD-CFE7-837F-C8F7BEAA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28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4C84-2E3C-3A10-8FF9-E46C73D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10498-C2BE-6DE1-2E67-B1100567F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4B795-E5C1-5AF5-5770-632763204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49E66-8648-82D5-3E6A-890745EE7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F8CC4-29CE-FC17-2AE5-4101A79CF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E5D1C4-359F-1218-D68B-C3205610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CD232-BD43-6FA4-1423-49EF5224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EDF3C-E858-238E-23C3-1A5F8E7E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3FEE-1784-7563-1DE1-26FCC566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8CE59-0CEF-693B-B074-4A5BCD93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CD1D9-C3EC-AD00-28D5-0DD9B4240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F2503-F0AF-9830-E358-0388DDFA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8AED9E-CFDF-E260-43EC-6B9F35AA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45EEC-E8EE-7BE1-C1A3-27CCAE76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89265-DEEA-1A5C-C95B-82DC331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4578-759B-C9AE-E92D-841222A4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75797-039F-653D-74CC-D1910AC55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90490-F471-D351-CDEF-D1FD154B4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B6B57-DDF8-F785-3EBC-804C8AE7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BBD60-A8A6-DD6B-901B-FA2F7306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79ACB-0D45-2EB8-95ED-9CD3AF31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1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F5F1-B6FE-C254-FC5B-87D13106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F9CC-B2EA-B953-C05E-272855881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67C92-5EEA-5FA6-A983-7BFD46E6C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EB9D3-8EBC-5DAF-4737-FD036DC9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23B69-8A43-862C-CFCA-E253CEAF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8C691-DC63-6885-3E14-BB710D8C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1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C1C2-31DD-BA9A-04FE-1C2F4EDE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A00A2-4EEB-8A75-E042-FBADC487D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4F1E4-3468-7DA6-98A2-478A628E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2A83-BDB6-CB49-25F8-0EE9861F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5A8E5-F63D-0522-633A-8FC935C18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34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F81A5-28BB-895C-BAAE-1A5217CAE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CF5E-2F2E-5DCE-0B8F-A80A3AED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B7A1A-D3A6-F318-F362-3BFEEDAD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B88C-F6A7-9293-30E6-EDBCCBDE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AE10A-56C1-DED2-340F-227149E2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72988-647B-AED6-D711-715AB8FA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57628-7A45-1F64-D696-49DC8C09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29B15-96EC-4737-56D0-41A108F7D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D2366-CFB7-4867-82A4-0BD5DE2A3A6E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422EC-C39F-BF41-DBDC-88BAB7C2D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A1956-C182-AD38-0A9C-462AD65BF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BD5C5-7625-4CF0-9476-A40811507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6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16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.jpeg"/><Relationship Id="rId7" Type="http://schemas.openxmlformats.org/officeDocument/2006/relationships/image" Target="../media/image1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.jpeg"/><Relationship Id="rId7" Type="http://schemas.openxmlformats.org/officeDocument/2006/relationships/image" Target="../media/image1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8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19.svg"/><Relationship Id="rId5" Type="http://schemas.openxmlformats.org/officeDocument/2006/relationships/image" Target="../media/image5.jpeg"/><Relationship Id="rId10" Type="http://schemas.openxmlformats.org/officeDocument/2006/relationships/image" Target="../media/image18.svg"/><Relationship Id="rId4" Type="http://schemas.openxmlformats.org/officeDocument/2006/relationships/image" Target="../media/image1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ken Images - Free Download on Freepik">
            <a:extLst>
              <a:ext uri="{FF2B5EF4-FFF2-40B4-BE49-F238E27FC236}">
                <a16:creationId xmlns:a16="http://schemas.microsoft.com/office/drawing/2014/main" id="{FF74A6A2-05D6-FAFC-7AA2-FB086FA57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010" y="2559013"/>
            <a:ext cx="1055914" cy="105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952A51-3F59-DFFD-8F7C-03765CE52A38}"/>
              </a:ext>
            </a:extLst>
          </p:cNvPr>
          <p:cNvGrpSpPr/>
          <p:nvPr/>
        </p:nvGrpSpPr>
        <p:grpSpPr>
          <a:xfrm>
            <a:off x="4663440" y="388838"/>
            <a:ext cx="2626570" cy="3226089"/>
            <a:chOff x="3777277" y="696687"/>
            <a:chExt cx="4637445" cy="5464626"/>
          </a:xfrm>
        </p:grpSpPr>
        <p:pic>
          <p:nvPicPr>
            <p:cNvPr id="7" name="Graphic 6" descr="Rain with solid fill">
              <a:extLst>
                <a:ext uri="{FF2B5EF4-FFF2-40B4-BE49-F238E27FC236}">
                  <a16:creationId xmlns:a16="http://schemas.microsoft.com/office/drawing/2014/main" id="{0C215EAD-C853-A138-C9BB-A796D01BB9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3664" y="696687"/>
              <a:ext cx="2732313" cy="2732313"/>
            </a:xfrm>
            <a:prstGeom prst="rect">
              <a:avLst/>
            </a:prstGeom>
          </p:spPr>
        </p:pic>
        <p:pic>
          <p:nvPicPr>
            <p:cNvPr id="8" name="Picture 2" descr="3,316 Corn Field Sun Stock Vectors and ...">
              <a:extLst>
                <a:ext uri="{FF2B5EF4-FFF2-40B4-BE49-F238E27FC236}">
                  <a16:creationId xmlns:a16="http://schemas.microsoft.com/office/drawing/2014/main" id="{3E1246B3-D8A7-EA03-2C25-87DECCB518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7277" y="3629024"/>
              <a:ext cx="4637445" cy="2532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98" name="Picture 2" descr="1,900+ Maize Plant Clip Art Stock ...">
            <a:extLst>
              <a:ext uri="{FF2B5EF4-FFF2-40B4-BE49-F238E27FC236}">
                <a16:creationId xmlns:a16="http://schemas.microsoft.com/office/drawing/2014/main" id="{B04FB347-0A83-F7D7-623B-1D7E6D05A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8197" y="555172"/>
            <a:ext cx="1843358" cy="184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Token Images - Free Download on Freepik">
            <a:extLst>
              <a:ext uri="{FF2B5EF4-FFF2-40B4-BE49-F238E27FC236}">
                <a16:creationId xmlns:a16="http://schemas.microsoft.com/office/drawing/2014/main" id="{7A77A9D9-42B9-10B7-5708-FE52E3DC3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919" y="2638015"/>
            <a:ext cx="1055914" cy="105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A7B2DF-B62A-F26F-1C44-DBAF51451F0C}"/>
              </a:ext>
            </a:extLst>
          </p:cNvPr>
          <p:cNvSpPr txBox="1"/>
          <p:nvPr/>
        </p:nvSpPr>
        <p:spPr>
          <a:xfrm>
            <a:off x="1355163" y="3931920"/>
            <a:ext cx="1435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65240C-0892-818A-98E9-4DF5DEB3CBD3}"/>
              </a:ext>
            </a:extLst>
          </p:cNvPr>
          <p:cNvSpPr txBox="1"/>
          <p:nvPr/>
        </p:nvSpPr>
        <p:spPr>
          <a:xfrm>
            <a:off x="8952072" y="3931920"/>
            <a:ext cx="1435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2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B0DE6C9-848E-FB6D-DDFD-9A123E5042A7}"/>
              </a:ext>
            </a:extLst>
          </p:cNvPr>
          <p:cNvSpPr/>
          <p:nvPr/>
        </p:nvSpPr>
        <p:spPr>
          <a:xfrm>
            <a:off x="5250432" y="3931920"/>
            <a:ext cx="1645920" cy="621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1C062D-D2F2-E6A8-6957-F90C58D5B4D1}"/>
              </a:ext>
            </a:extLst>
          </p:cNvPr>
          <p:cNvSpPr txBox="1"/>
          <p:nvPr/>
        </p:nvSpPr>
        <p:spPr>
          <a:xfrm>
            <a:off x="5250432" y="4639806"/>
            <a:ext cx="1435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2x</a:t>
            </a:r>
          </a:p>
        </p:txBody>
      </p:sp>
      <p:pic>
        <p:nvPicPr>
          <p:cNvPr id="4100" name="Picture 4" descr="Fertilizer Bag Stock Illustrations ...">
            <a:extLst>
              <a:ext uri="{FF2B5EF4-FFF2-40B4-BE49-F238E27FC236}">
                <a16:creationId xmlns:a16="http://schemas.microsoft.com/office/drawing/2014/main" id="{B0F9BB86-03F8-4F64-BFD5-E9A67F02E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04" y="388838"/>
            <a:ext cx="23717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197842E-1CD5-0533-B697-66536FBAC079}"/>
              </a:ext>
            </a:extLst>
          </p:cNvPr>
          <p:cNvSpPr txBox="1"/>
          <p:nvPr/>
        </p:nvSpPr>
        <p:spPr>
          <a:xfrm>
            <a:off x="365760" y="6053328"/>
            <a:ext cx="4794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Explanation of fertilizer payout under good rain.</a:t>
            </a:r>
          </a:p>
        </p:txBody>
      </p:sp>
    </p:spTree>
    <p:extLst>
      <p:ext uri="{BB962C8B-B14F-4D97-AF65-F5344CB8AC3E}">
        <p14:creationId xmlns:p14="http://schemas.microsoft.com/office/powerpoint/2010/main" val="187176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ken Images - Free Download on Freepik">
            <a:extLst>
              <a:ext uri="{FF2B5EF4-FFF2-40B4-BE49-F238E27FC236}">
                <a16:creationId xmlns:a16="http://schemas.microsoft.com/office/drawing/2014/main" id="{2B25E6DF-8F93-B672-62CF-9851A67FE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466" y="3537421"/>
            <a:ext cx="1055914" cy="105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1,900+ Maize Plant Clip Art Stock ...">
            <a:extLst>
              <a:ext uri="{FF2B5EF4-FFF2-40B4-BE49-F238E27FC236}">
                <a16:creationId xmlns:a16="http://schemas.microsoft.com/office/drawing/2014/main" id="{042A628B-3E6A-5E89-49B3-C0C0C72BF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7653" y="1533580"/>
            <a:ext cx="1843358" cy="184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Token Images - Free Download on Freepik">
            <a:extLst>
              <a:ext uri="{FF2B5EF4-FFF2-40B4-BE49-F238E27FC236}">
                <a16:creationId xmlns:a16="http://schemas.microsoft.com/office/drawing/2014/main" id="{AA0DF71C-3AAD-535E-297B-0AAA2061E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375" y="3616423"/>
            <a:ext cx="1055914" cy="105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3B4679D-3C9A-9BF0-3B75-21FFF3E9AC57}"/>
              </a:ext>
            </a:extLst>
          </p:cNvPr>
          <p:cNvGrpSpPr/>
          <p:nvPr/>
        </p:nvGrpSpPr>
        <p:grpSpPr>
          <a:xfrm>
            <a:off x="4954659" y="899868"/>
            <a:ext cx="2087997" cy="3567356"/>
            <a:chOff x="4676775" y="685800"/>
            <a:chExt cx="2838450" cy="5222420"/>
          </a:xfrm>
        </p:grpSpPr>
        <p:pic>
          <p:nvPicPr>
            <p:cNvPr id="12" name="Graphic 11" descr="Cloud outline">
              <a:extLst>
                <a:ext uri="{FF2B5EF4-FFF2-40B4-BE49-F238E27FC236}">
                  <a16:creationId xmlns:a16="http://schemas.microsoft.com/office/drawing/2014/main" id="{B79D6A92-F66E-0A5B-6E23-ECF348C8B7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76158" y="685800"/>
              <a:ext cx="1948542" cy="1948542"/>
            </a:xfrm>
            <a:prstGeom prst="rect">
              <a:avLst/>
            </a:prstGeom>
          </p:spPr>
        </p:pic>
        <p:pic>
          <p:nvPicPr>
            <p:cNvPr id="13" name="Picture 2" descr="30+ Dead Crop Field Stock Illustrations, Royalty-Free Vector Graphics &amp;  Clip Art - iStock">
              <a:extLst>
                <a:ext uri="{FF2B5EF4-FFF2-40B4-BE49-F238E27FC236}">
                  <a16:creationId xmlns:a16="http://schemas.microsoft.com/office/drawing/2014/main" id="{A93C277E-45F5-2CCF-5567-1B1AEF9F8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6775" y="3069770"/>
              <a:ext cx="2838450" cy="2838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A8C3BE0-8A77-A9C3-ECB8-B1D87B7FFB78}"/>
              </a:ext>
            </a:extLst>
          </p:cNvPr>
          <p:cNvSpPr txBox="1"/>
          <p:nvPr/>
        </p:nvSpPr>
        <p:spPr>
          <a:xfrm>
            <a:off x="1501467" y="4832820"/>
            <a:ext cx="1435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4F0A1-D98B-5444-AC18-4F478D7C53CD}"/>
              </a:ext>
            </a:extLst>
          </p:cNvPr>
          <p:cNvSpPr txBox="1"/>
          <p:nvPr/>
        </p:nvSpPr>
        <p:spPr>
          <a:xfrm>
            <a:off x="9098376" y="4832820"/>
            <a:ext cx="1435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0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4E607AD-E16A-36A4-B74C-C661B6F201B3}"/>
              </a:ext>
            </a:extLst>
          </p:cNvPr>
          <p:cNvSpPr/>
          <p:nvPr/>
        </p:nvSpPr>
        <p:spPr>
          <a:xfrm>
            <a:off x="5396736" y="4832820"/>
            <a:ext cx="1645920" cy="621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09357C-9AEB-5A22-C87E-BD0E441457C4}"/>
              </a:ext>
            </a:extLst>
          </p:cNvPr>
          <p:cNvSpPr txBox="1"/>
          <p:nvPr/>
        </p:nvSpPr>
        <p:spPr>
          <a:xfrm>
            <a:off x="5396736" y="5540706"/>
            <a:ext cx="1435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0x</a:t>
            </a:r>
          </a:p>
        </p:txBody>
      </p:sp>
      <p:pic>
        <p:nvPicPr>
          <p:cNvPr id="18" name="Picture 4" descr="Fertilizer Bag Stock Illustrations ...">
            <a:extLst>
              <a:ext uri="{FF2B5EF4-FFF2-40B4-BE49-F238E27FC236}">
                <a16:creationId xmlns:a16="http://schemas.microsoft.com/office/drawing/2014/main" id="{E5EEA294-B7ED-C988-24D1-D37F04DCE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08" y="1493234"/>
            <a:ext cx="23717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BFBFCF-3E97-99F7-4BA7-20220F0977D0}"/>
              </a:ext>
            </a:extLst>
          </p:cNvPr>
          <p:cNvSpPr txBox="1"/>
          <p:nvPr/>
        </p:nvSpPr>
        <p:spPr>
          <a:xfrm>
            <a:off x="246888" y="6248592"/>
            <a:ext cx="480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Explanation of fertilizer payout under poor rain.</a:t>
            </a:r>
          </a:p>
        </p:txBody>
      </p:sp>
    </p:spTree>
    <p:extLst>
      <p:ext uri="{BB962C8B-B14F-4D97-AF65-F5344CB8AC3E}">
        <p14:creationId xmlns:p14="http://schemas.microsoft.com/office/powerpoint/2010/main" val="3109234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7C64-E29E-BCFC-D794-86107D15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FEB5AA-8FF7-E747-85BE-21FDB0325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144" y="1472973"/>
            <a:ext cx="2257425" cy="2257425"/>
          </a:xfrm>
          <a:prstGeom prst="rect">
            <a:avLst/>
          </a:prstGeom>
        </p:spPr>
      </p:pic>
      <p:pic>
        <p:nvPicPr>
          <p:cNvPr id="1028" name="Picture 4" descr="Token Images - Free Download on Freepik">
            <a:extLst>
              <a:ext uri="{FF2B5EF4-FFF2-40B4-BE49-F238E27FC236}">
                <a16:creationId xmlns:a16="http://schemas.microsoft.com/office/drawing/2014/main" id="{5ED96162-BDED-60E5-6BE9-9E87DD5DB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486" y="3276600"/>
            <a:ext cx="1055914" cy="105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D26115-7C31-F46A-793C-D264AA0167A6}"/>
              </a:ext>
            </a:extLst>
          </p:cNvPr>
          <p:cNvSpPr txBox="1"/>
          <p:nvPr/>
        </p:nvSpPr>
        <p:spPr>
          <a:xfrm>
            <a:off x="2752523" y="4554029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57CC9-4692-6B91-931C-C2ABB41A1187}"/>
              </a:ext>
            </a:extLst>
          </p:cNvPr>
          <p:cNvSpPr txBox="1"/>
          <p:nvPr/>
        </p:nvSpPr>
        <p:spPr>
          <a:xfrm>
            <a:off x="6160423" y="4554029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pic>
        <p:nvPicPr>
          <p:cNvPr id="13" name="Graphic 12" descr="Badge Follow with solid fill">
            <a:extLst>
              <a:ext uri="{FF2B5EF4-FFF2-40B4-BE49-F238E27FC236}">
                <a16:creationId xmlns:a16="http://schemas.microsoft.com/office/drawing/2014/main" id="{BBBFAB9C-4EC3-4E9D-CBB9-EE25EB7A5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5632" y="4470626"/>
            <a:ext cx="914400" cy="914400"/>
          </a:xfrm>
          <a:prstGeom prst="rect">
            <a:avLst/>
          </a:prstGeom>
        </p:spPr>
      </p:pic>
      <p:pic>
        <p:nvPicPr>
          <p:cNvPr id="15" name="Graphic 14" descr="Badge Unfollow with solid fill">
            <a:extLst>
              <a:ext uri="{FF2B5EF4-FFF2-40B4-BE49-F238E27FC236}">
                <a16:creationId xmlns:a16="http://schemas.microsoft.com/office/drawing/2014/main" id="{0AEC2D8F-8BB2-62A9-B663-D4F0BA7529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0649" y="4470626"/>
            <a:ext cx="914400" cy="9144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33A139E-ABF9-EE51-EE29-449018223DCA}"/>
              </a:ext>
            </a:extLst>
          </p:cNvPr>
          <p:cNvGrpSpPr/>
          <p:nvPr/>
        </p:nvGrpSpPr>
        <p:grpSpPr>
          <a:xfrm>
            <a:off x="10021824" y="4864608"/>
            <a:ext cx="1664208" cy="1819656"/>
            <a:chOff x="8906256" y="4828032"/>
            <a:chExt cx="1664208" cy="19202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BD5EA3-A854-3A27-2E72-AF2AE6BE08B6}"/>
                </a:ext>
              </a:extLst>
            </p:cNvPr>
            <p:cNvSpPr/>
            <p:nvPr/>
          </p:nvSpPr>
          <p:spPr>
            <a:xfrm>
              <a:off x="8906256" y="4828032"/>
              <a:ext cx="1664208" cy="192024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 descr="Seed Packet with solid fill">
              <a:extLst>
                <a:ext uri="{FF2B5EF4-FFF2-40B4-BE49-F238E27FC236}">
                  <a16:creationId xmlns:a16="http://schemas.microsoft.com/office/drawing/2014/main" id="{C2612760-8F70-5334-0ACB-EE27F0283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30679" y="5111496"/>
              <a:ext cx="1215362" cy="1215362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241DB9E-BC26-2515-9EBD-013545E08E9E}"/>
              </a:ext>
            </a:extLst>
          </p:cNvPr>
          <p:cNvSpPr/>
          <p:nvPr/>
        </p:nvSpPr>
        <p:spPr>
          <a:xfrm>
            <a:off x="8906256" y="109728"/>
            <a:ext cx="3285744" cy="3447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7F72370-F0A5-A603-37D5-D4621640D3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0533" y="251064"/>
            <a:ext cx="2773036" cy="149073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4BDB289-4B71-B04F-F847-C6346A3B2F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2740" y="1921213"/>
            <a:ext cx="2912773" cy="1562002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A43B19-A3D7-E791-AB7E-28D804BB0D3A}"/>
              </a:ext>
            </a:extLst>
          </p:cNvPr>
          <p:cNvCxnSpPr/>
          <p:nvPr/>
        </p:nvCxnSpPr>
        <p:spPr>
          <a:xfrm>
            <a:off x="9050533" y="1833372"/>
            <a:ext cx="28152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4" descr="Fertilizer Bag Stock Illustrations ...">
            <a:extLst>
              <a:ext uri="{FF2B5EF4-FFF2-40B4-BE49-F238E27FC236}">
                <a16:creationId xmlns:a16="http://schemas.microsoft.com/office/drawing/2014/main" id="{5DB34E8E-D957-BD0E-4136-8A46094CF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175" y="1880507"/>
            <a:ext cx="23717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Fertilizer Bag Stock Illustrations ...">
            <a:extLst>
              <a:ext uri="{FF2B5EF4-FFF2-40B4-BE49-F238E27FC236}">
                <a16:creationId xmlns:a16="http://schemas.microsoft.com/office/drawing/2014/main" id="{FAD1D995-4CEE-9D75-7A31-1339224345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t="14308" b="12605"/>
          <a:stretch>
            <a:fillRect/>
          </a:stretch>
        </p:blipFill>
        <p:spPr bwMode="auto">
          <a:xfrm>
            <a:off x="8928346" y="238285"/>
            <a:ext cx="992003" cy="66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Fertilizer Bag Stock Illustrations ...">
            <a:extLst>
              <a:ext uri="{FF2B5EF4-FFF2-40B4-BE49-F238E27FC236}">
                <a16:creationId xmlns:a16="http://schemas.microsoft.com/office/drawing/2014/main" id="{E3B86E52-4979-22CE-6B6C-66982EE95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t="14308" b="12605"/>
          <a:stretch>
            <a:fillRect/>
          </a:stretch>
        </p:blipFill>
        <p:spPr bwMode="auto">
          <a:xfrm>
            <a:off x="8988750" y="1963299"/>
            <a:ext cx="992003" cy="66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C4338B2-8829-EFA6-A103-3E94A1B84DFF}"/>
              </a:ext>
            </a:extLst>
          </p:cNvPr>
          <p:cNvSpPr txBox="1"/>
          <p:nvPr/>
        </p:nvSpPr>
        <p:spPr>
          <a:xfrm>
            <a:off x="60401" y="247994"/>
            <a:ext cx="7840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round and round 1 decision screen. Total in the lock box should update as participants select fertilizer purchase amounts. Possible payout reminder box. </a:t>
            </a:r>
          </a:p>
        </p:txBody>
      </p:sp>
    </p:spTree>
    <p:extLst>
      <p:ext uri="{BB962C8B-B14F-4D97-AF65-F5344CB8AC3E}">
        <p14:creationId xmlns:p14="http://schemas.microsoft.com/office/powerpoint/2010/main" val="289875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E6F04FE-C912-6882-77FE-5BB4623D38A6}"/>
              </a:ext>
            </a:extLst>
          </p:cNvPr>
          <p:cNvGrpSpPr/>
          <p:nvPr/>
        </p:nvGrpSpPr>
        <p:grpSpPr>
          <a:xfrm>
            <a:off x="3777277" y="696687"/>
            <a:ext cx="4637445" cy="5464626"/>
            <a:chOff x="3777277" y="696687"/>
            <a:chExt cx="4637445" cy="5464626"/>
          </a:xfrm>
        </p:grpSpPr>
        <p:pic>
          <p:nvPicPr>
            <p:cNvPr id="5" name="Graphic 4" descr="Rain with solid fill">
              <a:extLst>
                <a:ext uri="{FF2B5EF4-FFF2-40B4-BE49-F238E27FC236}">
                  <a16:creationId xmlns:a16="http://schemas.microsoft.com/office/drawing/2014/main" id="{F43B5474-1133-CEAD-3762-F770354D69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13664" y="696687"/>
              <a:ext cx="2732313" cy="2732313"/>
            </a:xfrm>
            <a:prstGeom prst="rect">
              <a:avLst/>
            </a:prstGeom>
          </p:spPr>
        </p:pic>
        <p:pic>
          <p:nvPicPr>
            <p:cNvPr id="3074" name="Picture 2" descr="3,316 Corn Field Sun Stock Vectors and ...">
              <a:extLst>
                <a:ext uri="{FF2B5EF4-FFF2-40B4-BE49-F238E27FC236}">
                  <a16:creationId xmlns:a16="http://schemas.microsoft.com/office/drawing/2014/main" id="{7A4BB705-363D-B401-BFD4-91BC13E1B4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7277" y="3629024"/>
              <a:ext cx="4637445" cy="25322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3AB3284-8D26-2AB5-F306-2AAB4D6C8B55}"/>
              </a:ext>
            </a:extLst>
          </p:cNvPr>
          <p:cNvSpPr txBox="1"/>
          <p:nvPr/>
        </p:nvSpPr>
        <p:spPr>
          <a:xfrm>
            <a:off x="207264" y="127331"/>
            <a:ext cx="11945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Positive rainfall realization</a:t>
            </a:r>
          </a:p>
        </p:txBody>
      </p:sp>
    </p:spTree>
    <p:extLst>
      <p:ext uri="{BB962C8B-B14F-4D97-AF65-F5344CB8AC3E}">
        <p14:creationId xmlns:p14="http://schemas.microsoft.com/office/powerpoint/2010/main" val="156378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6A81-8A29-907A-FA0F-1DCEF3B5C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8947CA8-90D9-B7AC-8D6B-F3D82598B094}"/>
              </a:ext>
            </a:extLst>
          </p:cNvPr>
          <p:cNvGrpSpPr/>
          <p:nvPr/>
        </p:nvGrpSpPr>
        <p:grpSpPr>
          <a:xfrm>
            <a:off x="4676775" y="685800"/>
            <a:ext cx="2838450" cy="5222420"/>
            <a:chOff x="4676775" y="685800"/>
            <a:chExt cx="2838450" cy="5222420"/>
          </a:xfrm>
        </p:grpSpPr>
        <p:pic>
          <p:nvPicPr>
            <p:cNvPr id="3" name="Graphic 2" descr="Cloud outline">
              <a:extLst>
                <a:ext uri="{FF2B5EF4-FFF2-40B4-BE49-F238E27FC236}">
                  <a16:creationId xmlns:a16="http://schemas.microsoft.com/office/drawing/2014/main" id="{5879B9D9-090D-07A9-EDB4-8A02B1FED5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176158" y="685800"/>
              <a:ext cx="1948542" cy="1948542"/>
            </a:xfrm>
            <a:prstGeom prst="rect">
              <a:avLst/>
            </a:prstGeom>
          </p:spPr>
        </p:pic>
        <p:pic>
          <p:nvPicPr>
            <p:cNvPr id="2050" name="Picture 2" descr="30+ Dead Crop Field Stock Illustrations, Royalty-Free Vector Graphics &amp;  Clip Art - iStock">
              <a:extLst>
                <a:ext uri="{FF2B5EF4-FFF2-40B4-BE49-F238E27FC236}">
                  <a16:creationId xmlns:a16="http://schemas.microsoft.com/office/drawing/2014/main" id="{B4BAD288-43A9-B1BA-D13C-407774CE8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6775" y="3069770"/>
              <a:ext cx="2838450" cy="2838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AADD83C-F1FE-85AD-F4B5-D2495363B77D}"/>
              </a:ext>
            </a:extLst>
          </p:cNvPr>
          <p:cNvSpPr txBox="1"/>
          <p:nvPr/>
        </p:nvSpPr>
        <p:spPr>
          <a:xfrm>
            <a:off x="207264" y="127331"/>
            <a:ext cx="11945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 rainfall realization</a:t>
            </a:r>
          </a:p>
        </p:txBody>
      </p:sp>
    </p:spTree>
    <p:extLst>
      <p:ext uri="{BB962C8B-B14F-4D97-AF65-F5344CB8AC3E}">
        <p14:creationId xmlns:p14="http://schemas.microsoft.com/office/powerpoint/2010/main" val="366897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D48C6111-79C0-4219-3E0D-ABFE6AC5D691}"/>
              </a:ext>
            </a:extLst>
          </p:cNvPr>
          <p:cNvSpPr/>
          <p:nvPr/>
        </p:nvSpPr>
        <p:spPr>
          <a:xfrm>
            <a:off x="2368296" y="1814431"/>
            <a:ext cx="3048000" cy="28085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8" descr="Agricultural Insurance Icons: Over 3,064 Royalty-Free Licensable Stock  Illustrations &amp; Drawings | Shutterstock">
            <a:extLst>
              <a:ext uri="{FF2B5EF4-FFF2-40B4-BE49-F238E27FC236}">
                <a16:creationId xmlns:a16="http://schemas.microsoft.com/office/drawing/2014/main" id="{E7BF45BD-CA9A-8F3F-FBD1-22F17F61BE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59" t="55440" r="3265" b="4240"/>
          <a:stretch>
            <a:fillRect/>
          </a:stretch>
        </p:blipFill>
        <p:spPr bwMode="auto">
          <a:xfrm>
            <a:off x="2806949" y="2097672"/>
            <a:ext cx="1505745" cy="150649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 descr="Help with solid fill">
            <a:extLst>
              <a:ext uri="{FF2B5EF4-FFF2-40B4-BE49-F238E27FC236}">
                <a16:creationId xmlns:a16="http://schemas.microsoft.com/office/drawing/2014/main" id="{C521D23B-C66F-949D-48C7-2615CEABAC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6847" y="3000770"/>
            <a:ext cx="1351773" cy="135177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E5BE2224-E88E-6295-AA58-AB6FDEDA2C6A}"/>
              </a:ext>
            </a:extLst>
          </p:cNvPr>
          <p:cNvSpPr/>
          <p:nvPr/>
        </p:nvSpPr>
        <p:spPr>
          <a:xfrm>
            <a:off x="5681244" y="1923936"/>
            <a:ext cx="3133571" cy="291324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Seed Packet with solid fill">
            <a:extLst>
              <a:ext uri="{FF2B5EF4-FFF2-40B4-BE49-F238E27FC236}">
                <a16:creationId xmlns:a16="http://schemas.microsoft.com/office/drawing/2014/main" id="{7AF6BAC2-1D10-4748-F808-3C44A8021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7171" y="2341125"/>
            <a:ext cx="1486148" cy="1149873"/>
          </a:xfrm>
          <a:prstGeom prst="rect">
            <a:avLst/>
          </a:prstGeom>
        </p:spPr>
      </p:pic>
      <p:pic>
        <p:nvPicPr>
          <p:cNvPr id="13" name="Graphic 12" descr="Arrow Right with solid fill">
            <a:extLst>
              <a:ext uri="{FF2B5EF4-FFF2-40B4-BE49-F238E27FC236}">
                <a16:creationId xmlns:a16="http://schemas.microsoft.com/office/drawing/2014/main" id="{CCA3386E-C8BC-1CE0-6A94-5F328E7C8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2850918"/>
            <a:ext cx="2194302" cy="2194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A695857-1EEC-A634-18D7-874DC5084E97}"/>
              </a:ext>
            </a:extLst>
          </p:cNvPr>
          <p:cNvSpPr txBox="1"/>
          <p:nvPr/>
        </p:nvSpPr>
        <p:spPr>
          <a:xfrm>
            <a:off x="207264" y="127331"/>
            <a:ext cx="11945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 to watch a video </a:t>
            </a:r>
            <a:r>
              <a:rPr lang="en-US"/>
              <a:t>explaining insurance</a:t>
            </a:r>
            <a:endParaRPr lang="en-US" dirty="0"/>
          </a:p>
        </p:txBody>
      </p:sp>
      <p:pic>
        <p:nvPicPr>
          <p:cNvPr id="2" name="Picture 1" descr="Token Images - Free Download on Freepik">
            <a:extLst>
              <a:ext uri="{FF2B5EF4-FFF2-40B4-BE49-F238E27FC236}">
                <a16:creationId xmlns:a16="http://schemas.microsoft.com/office/drawing/2014/main" id="{7D4B4B54-98AE-7D25-D0DB-65430675F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128" y="4754516"/>
            <a:ext cx="1049364" cy="104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B5E279-92DF-2AF6-7565-89A9005FB0BF}"/>
              </a:ext>
            </a:extLst>
          </p:cNvPr>
          <p:cNvSpPr txBox="1"/>
          <p:nvPr/>
        </p:nvSpPr>
        <p:spPr>
          <a:xfrm>
            <a:off x="3797349" y="5102196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1726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4AE0A-D5A4-3655-89CD-D0E14D1DA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7D36DE-8328-F2EB-7951-375AD2044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32" y="1262661"/>
            <a:ext cx="2257425" cy="2257425"/>
          </a:xfrm>
          <a:prstGeom prst="rect">
            <a:avLst/>
          </a:prstGeom>
        </p:spPr>
      </p:pic>
      <p:pic>
        <p:nvPicPr>
          <p:cNvPr id="5" name="Picture 4" descr="Token Images - Free Download on Freepik">
            <a:extLst>
              <a:ext uri="{FF2B5EF4-FFF2-40B4-BE49-F238E27FC236}">
                <a16:creationId xmlns:a16="http://schemas.microsoft.com/office/drawing/2014/main" id="{41F1631E-953E-2478-9845-9D91CAF16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474" y="3066288"/>
            <a:ext cx="1055914" cy="105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F20BB0-0E2F-FF4D-E09B-98B324948547}"/>
              </a:ext>
            </a:extLst>
          </p:cNvPr>
          <p:cNvSpPr txBox="1"/>
          <p:nvPr/>
        </p:nvSpPr>
        <p:spPr>
          <a:xfrm>
            <a:off x="600511" y="4343717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5208D5-F436-EB55-F31F-70223D3DDE4B}"/>
              </a:ext>
            </a:extLst>
          </p:cNvPr>
          <p:cNvSpPr txBox="1"/>
          <p:nvPr/>
        </p:nvSpPr>
        <p:spPr>
          <a:xfrm>
            <a:off x="3268174" y="4217289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pic>
        <p:nvPicPr>
          <p:cNvPr id="9" name="Graphic 8" descr="Badge Follow with solid fill">
            <a:extLst>
              <a:ext uri="{FF2B5EF4-FFF2-40B4-BE49-F238E27FC236}">
                <a16:creationId xmlns:a16="http://schemas.microsoft.com/office/drawing/2014/main" id="{CC56E6FB-8A8A-9274-37E3-7CC0869E3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383" y="4133886"/>
            <a:ext cx="914400" cy="914400"/>
          </a:xfrm>
          <a:prstGeom prst="rect">
            <a:avLst/>
          </a:prstGeom>
        </p:spPr>
      </p:pic>
      <p:pic>
        <p:nvPicPr>
          <p:cNvPr id="10" name="Graphic 9" descr="Badge Unfollow with solid fill">
            <a:extLst>
              <a:ext uri="{FF2B5EF4-FFF2-40B4-BE49-F238E27FC236}">
                <a16:creationId xmlns:a16="http://schemas.microsoft.com/office/drawing/2014/main" id="{5BAA391E-A957-7243-1872-1C54CF805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8400" y="4133886"/>
            <a:ext cx="914400" cy="914400"/>
          </a:xfrm>
          <a:prstGeom prst="rect">
            <a:avLst/>
          </a:prstGeom>
        </p:spPr>
      </p:pic>
      <p:pic>
        <p:nvPicPr>
          <p:cNvPr id="11" name="Picture 4" descr="Fertilizer Bag Stock Illustrations ...">
            <a:extLst>
              <a:ext uri="{FF2B5EF4-FFF2-40B4-BE49-F238E27FC236}">
                <a16:creationId xmlns:a16="http://schemas.microsoft.com/office/drawing/2014/main" id="{B70C5406-1A46-3CEF-F2D7-4F80CADC2E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t="14308" b="12605"/>
          <a:stretch>
            <a:fillRect/>
          </a:stretch>
        </p:blipFill>
        <p:spPr bwMode="auto">
          <a:xfrm>
            <a:off x="2933901" y="1659636"/>
            <a:ext cx="2849868" cy="191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520+ Seed Packet Stock Illustrations ...">
            <a:extLst>
              <a:ext uri="{FF2B5EF4-FFF2-40B4-BE49-F238E27FC236}">
                <a16:creationId xmlns:a16="http://schemas.microsoft.com/office/drawing/2014/main" id="{0F9B1115-5D4B-619C-2A43-EA3AA883E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3" t="13086" r="9369" b="8908"/>
          <a:stretch>
            <a:fillRect/>
          </a:stretch>
        </p:blipFill>
        <p:spPr bwMode="auto">
          <a:xfrm>
            <a:off x="6254584" y="1657694"/>
            <a:ext cx="2208592" cy="1921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Agricultural Insurance Icons: Over 3,064 Royalty-Free Licensable Stock  Illustrations &amp; Drawings | Shutterstock">
            <a:extLst>
              <a:ext uri="{FF2B5EF4-FFF2-40B4-BE49-F238E27FC236}">
                <a16:creationId xmlns:a16="http://schemas.microsoft.com/office/drawing/2014/main" id="{4D111143-8F18-6E45-64BB-D56D38FA2B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59" t="55440" r="3265" b="4240"/>
          <a:stretch>
            <a:fillRect/>
          </a:stretch>
        </p:blipFill>
        <p:spPr bwMode="auto">
          <a:xfrm>
            <a:off x="9523796" y="1639818"/>
            <a:ext cx="2097542" cy="209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3C71B4-CD18-6D22-BE7E-1F38E9783FE6}"/>
              </a:ext>
            </a:extLst>
          </p:cNvPr>
          <p:cNvSpPr txBox="1"/>
          <p:nvPr/>
        </p:nvSpPr>
        <p:spPr>
          <a:xfrm>
            <a:off x="6503317" y="4215347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pic>
        <p:nvPicPr>
          <p:cNvPr id="15" name="Graphic 14" descr="Badge Follow with solid fill">
            <a:extLst>
              <a:ext uri="{FF2B5EF4-FFF2-40B4-BE49-F238E27FC236}">
                <a16:creationId xmlns:a16="http://schemas.microsoft.com/office/drawing/2014/main" id="{DDF315AF-114C-53C0-F7D4-50E4A8185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8526" y="4131944"/>
            <a:ext cx="914400" cy="914400"/>
          </a:xfrm>
          <a:prstGeom prst="rect">
            <a:avLst/>
          </a:prstGeom>
        </p:spPr>
      </p:pic>
      <p:pic>
        <p:nvPicPr>
          <p:cNvPr id="16" name="Graphic 15" descr="Badge Unfollow with solid fill">
            <a:extLst>
              <a:ext uri="{FF2B5EF4-FFF2-40B4-BE49-F238E27FC236}">
                <a16:creationId xmlns:a16="http://schemas.microsoft.com/office/drawing/2014/main" id="{0DAF84F5-0A89-3B96-EC13-A3ACDF07FA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3543" y="4131944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434957-7239-6672-3DDC-AE2D4BC522AE}"/>
              </a:ext>
            </a:extLst>
          </p:cNvPr>
          <p:cNvSpPr txBox="1"/>
          <p:nvPr/>
        </p:nvSpPr>
        <p:spPr>
          <a:xfrm>
            <a:off x="9596232" y="4115117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pic>
        <p:nvPicPr>
          <p:cNvPr id="3" name="Graphic 2" descr="Badge Follow with solid fill">
            <a:extLst>
              <a:ext uri="{FF2B5EF4-FFF2-40B4-BE49-F238E27FC236}">
                <a16:creationId xmlns:a16="http://schemas.microsoft.com/office/drawing/2014/main" id="{54B8BFEC-17EA-C5DB-6678-35F412C7A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1441" y="4031714"/>
            <a:ext cx="914400" cy="914400"/>
          </a:xfrm>
          <a:prstGeom prst="rect">
            <a:avLst/>
          </a:prstGeom>
        </p:spPr>
      </p:pic>
      <p:pic>
        <p:nvPicPr>
          <p:cNvPr id="7" name="Graphic 6" descr="Badge Unfollow with solid fill">
            <a:extLst>
              <a:ext uri="{FF2B5EF4-FFF2-40B4-BE49-F238E27FC236}">
                <a16:creationId xmlns:a16="http://schemas.microsoft.com/office/drawing/2014/main" id="{C50E6B54-5F17-7481-569C-8889191B3D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6458" y="4031714"/>
            <a:ext cx="914400" cy="914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B783426-BC9A-D493-1950-090498E6651A}"/>
              </a:ext>
            </a:extLst>
          </p:cNvPr>
          <p:cNvGrpSpPr/>
          <p:nvPr/>
        </p:nvGrpSpPr>
        <p:grpSpPr>
          <a:xfrm>
            <a:off x="10526619" y="5174714"/>
            <a:ext cx="1489222" cy="1639818"/>
            <a:chOff x="8906256" y="4828032"/>
            <a:chExt cx="1664208" cy="19202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64975AD-34BF-5889-7CDB-39BCED9EF987}"/>
                </a:ext>
              </a:extLst>
            </p:cNvPr>
            <p:cNvSpPr/>
            <p:nvPr/>
          </p:nvSpPr>
          <p:spPr>
            <a:xfrm>
              <a:off x="8906256" y="4828032"/>
              <a:ext cx="1664208" cy="192024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Seed Packet with solid fill">
              <a:extLst>
                <a:ext uri="{FF2B5EF4-FFF2-40B4-BE49-F238E27FC236}">
                  <a16:creationId xmlns:a16="http://schemas.microsoft.com/office/drawing/2014/main" id="{DA0BEC92-F5BD-D5EA-A36B-411CA37E40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130679" y="5111496"/>
              <a:ext cx="1215362" cy="1215362"/>
            </a:xfrm>
            <a:prstGeom prst="rect">
              <a:avLst/>
            </a:prstGeom>
          </p:spPr>
        </p:pic>
      </p:grpSp>
      <p:pic>
        <p:nvPicPr>
          <p:cNvPr id="20" name="Picture 19" descr="Token Images - Free Download on Freepik">
            <a:extLst>
              <a:ext uri="{FF2B5EF4-FFF2-40B4-BE49-F238E27FC236}">
                <a16:creationId xmlns:a16="http://schemas.microsoft.com/office/drawing/2014/main" id="{50AD0036-6EDC-F798-D3F7-AF525102B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232" y="3472871"/>
            <a:ext cx="722591" cy="72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Token Images - Free Download on Freepik">
            <a:extLst>
              <a:ext uri="{FF2B5EF4-FFF2-40B4-BE49-F238E27FC236}">
                <a16:creationId xmlns:a16="http://schemas.microsoft.com/office/drawing/2014/main" id="{2DCC7929-1D7F-1336-183D-41988C506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957" y="3520086"/>
            <a:ext cx="722591" cy="72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Token Images - Free Download on Freepik">
            <a:extLst>
              <a:ext uri="{FF2B5EF4-FFF2-40B4-BE49-F238E27FC236}">
                <a16:creationId xmlns:a16="http://schemas.microsoft.com/office/drawing/2014/main" id="{41CFFB65-806A-518A-0279-E84238F65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271" y="3491406"/>
            <a:ext cx="722591" cy="72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10B718-1CAB-C397-EE82-58CA9A0F5CF1}"/>
              </a:ext>
            </a:extLst>
          </p:cNvPr>
          <p:cNvSpPr txBox="1"/>
          <p:nvPr/>
        </p:nvSpPr>
        <p:spPr>
          <a:xfrm>
            <a:off x="4169478" y="366803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905624-A55A-62A4-FA4C-1B03A565E10D}"/>
              </a:ext>
            </a:extLst>
          </p:cNvPr>
          <p:cNvSpPr txBox="1"/>
          <p:nvPr/>
        </p:nvSpPr>
        <p:spPr>
          <a:xfrm>
            <a:off x="7366993" y="3681326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7970A9-699A-A017-9F10-14A6BB11F4FE}"/>
              </a:ext>
            </a:extLst>
          </p:cNvPr>
          <p:cNvSpPr txBox="1"/>
          <p:nvPr/>
        </p:nvSpPr>
        <p:spPr>
          <a:xfrm>
            <a:off x="10406523" y="3634111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253526-10DA-3139-9E2C-B2908BB1D6D9}"/>
              </a:ext>
            </a:extLst>
          </p:cNvPr>
          <p:cNvSpPr txBox="1"/>
          <p:nvPr/>
        </p:nvSpPr>
        <p:spPr>
          <a:xfrm>
            <a:off x="60401" y="247994"/>
            <a:ext cx="7840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2, Version 1 decision screen. Total in the lock box should update as participants select input purchase amounts. If possible, insurance icon should be grayed out until seed is also purchased. </a:t>
            </a:r>
          </a:p>
        </p:txBody>
      </p:sp>
    </p:spTree>
    <p:extLst>
      <p:ext uri="{BB962C8B-B14F-4D97-AF65-F5344CB8AC3E}">
        <p14:creationId xmlns:p14="http://schemas.microsoft.com/office/powerpoint/2010/main" val="338529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3DEF56-469A-736A-0ECF-873094F60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8" y="1262661"/>
            <a:ext cx="2257425" cy="2257425"/>
          </a:xfrm>
          <a:prstGeom prst="rect">
            <a:avLst/>
          </a:prstGeom>
        </p:spPr>
      </p:pic>
      <p:pic>
        <p:nvPicPr>
          <p:cNvPr id="5" name="Picture 4" descr="Token Images - Free Download on Freepik">
            <a:extLst>
              <a:ext uri="{FF2B5EF4-FFF2-40B4-BE49-F238E27FC236}">
                <a16:creationId xmlns:a16="http://schemas.microsoft.com/office/drawing/2014/main" id="{D103631A-221C-588C-FB81-1B3ADA516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830" y="3066288"/>
            <a:ext cx="1055914" cy="1055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31265-E405-AE2A-78DE-D5B3719CC905}"/>
              </a:ext>
            </a:extLst>
          </p:cNvPr>
          <p:cNvSpPr txBox="1"/>
          <p:nvPr/>
        </p:nvSpPr>
        <p:spPr>
          <a:xfrm>
            <a:off x="932867" y="4343717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E139A-D72E-D365-D223-E815499A6CA2}"/>
              </a:ext>
            </a:extLst>
          </p:cNvPr>
          <p:cNvSpPr txBox="1"/>
          <p:nvPr/>
        </p:nvSpPr>
        <p:spPr>
          <a:xfrm>
            <a:off x="4340767" y="4343717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pic>
        <p:nvPicPr>
          <p:cNvPr id="9" name="Graphic 8" descr="Badge Follow with solid fill">
            <a:extLst>
              <a:ext uri="{FF2B5EF4-FFF2-40B4-BE49-F238E27FC236}">
                <a16:creationId xmlns:a16="http://schemas.microsoft.com/office/drawing/2014/main" id="{DB9232D2-5DBC-DD9F-A1E9-60354F533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5976" y="4260314"/>
            <a:ext cx="914400" cy="914400"/>
          </a:xfrm>
          <a:prstGeom prst="rect">
            <a:avLst/>
          </a:prstGeom>
        </p:spPr>
      </p:pic>
      <p:pic>
        <p:nvPicPr>
          <p:cNvPr id="10" name="Graphic 9" descr="Badge Unfollow with solid fill">
            <a:extLst>
              <a:ext uri="{FF2B5EF4-FFF2-40B4-BE49-F238E27FC236}">
                <a16:creationId xmlns:a16="http://schemas.microsoft.com/office/drawing/2014/main" id="{25BFF7C1-D6EF-5759-27DD-83C4427E1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0993" y="4260314"/>
            <a:ext cx="914400" cy="914400"/>
          </a:xfrm>
          <a:prstGeom prst="rect">
            <a:avLst/>
          </a:prstGeom>
        </p:spPr>
      </p:pic>
      <p:pic>
        <p:nvPicPr>
          <p:cNvPr id="11" name="Picture 4" descr="Fertilizer Bag Stock Illustrations ...">
            <a:extLst>
              <a:ext uri="{FF2B5EF4-FFF2-40B4-BE49-F238E27FC236}">
                <a16:creationId xmlns:a16="http://schemas.microsoft.com/office/drawing/2014/main" id="{343906FB-0C89-47CA-0342-CC11F2B2CA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t="14308" b="12605"/>
          <a:stretch>
            <a:fillRect/>
          </a:stretch>
        </p:blipFill>
        <p:spPr bwMode="auto">
          <a:xfrm>
            <a:off x="4006494" y="1786064"/>
            <a:ext cx="2849868" cy="191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D384BD0-0EAD-F64B-6126-A35B7868A859}"/>
              </a:ext>
            </a:extLst>
          </p:cNvPr>
          <p:cNvGrpSpPr/>
          <p:nvPr/>
        </p:nvGrpSpPr>
        <p:grpSpPr>
          <a:xfrm>
            <a:off x="7581682" y="1592798"/>
            <a:ext cx="2761488" cy="2529404"/>
            <a:chOff x="7315200" y="1883664"/>
            <a:chExt cx="2400950" cy="2398395"/>
          </a:xfrm>
        </p:grpSpPr>
        <p:pic>
          <p:nvPicPr>
            <p:cNvPr id="5124" name="Picture 4" descr="520+ Seed Packet Stock Illustrations ...">
              <a:extLst>
                <a:ext uri="{FF2B5EF4-FFF2-40B4-BE49-F238E27FC236}">
                  <a16:creationId xmlns:a16="http://schemas.microsoft.com/office/drawing/2014/main" id="{324DC7A1-6F86-8C93-39FB-8B566FBFB6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33" t="13086" r="9369" b="8908"/>
            <a:stretch>
              <a:fillRect/>
            </a:stretch>
          </p:blipFill>
          <p:spPr bwMode="auto">
            <a:xfrm>
              <a:off x="7315200" y="1883664"/>
              <a:ext cx="1920240" cy="1822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 descr="Agricultural Insurance Icons: Over 3,064 Royalty-Free Licensable Stock  Illustrations &amp; Drawings | Shutterstock">
              <a:extLst>
                <a:ext uri="{FF2B5EF4-FFF2-40B4-BE49-F238E27FC236}">
                  <a16:creationId xmlns:a16="http://schemas.microsoft.com/office/drawing/2014/main" id="{EB03234C-1786-184D-F4BB-FBDBCEFC64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259" t="55440" r="3265" b="4240"/>
            <a:stretch>
              <a:fillRect/>
            </a:stretch>
          </p:blipFill>
          <p:spPr bwMode="auto">
            <a:xfrm>
              <a:off x="8660236" y="3129915"/>
              <a:ext cx="1055914" cy="1152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42BE53F-0F89-C197-4A1A-0A30A4563FC0}"/>
              </a:ext>
            </a:extLst>
          </p:cNvPr>
          <p:cNvSpPr txBox="1"/>
          <p:nvPr/>
        </p:nvSpPr>
        <p:spPr>
          <a:xfrm>
            <a:off x="8079924" y="4343717"/>
            <a:ext cx="209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pic>
        <p:nvPicPr>
          <p:cNvPr id="15" name="Graphic 14" descr="Badge Follow with solid fill">
            <a:extLst>
              <a:ext uri="{FF2B5EF4-FFF2-40B4-BE49-F238E27FC236}">
                <a16:creationId xmlns:a16="http://schemas.microsoft.com/office/drawing/2014/main" id="{ABA4D880-41F8-7901-B0BC-5D610D378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5133" y="4260314"/>
            <a:ext cx="914400" cy="914400"/>
          </a:xfrm>
          <a:prstGeom prst="rect">
            <a:avLst/>
          </a:prstGeom>
        </p:spPr>
      </p:pic>
      <p:pic>
        <p:nvPicPr>
          <p:cNvPr id="16" name="Graphic 15" descr="Badge Unfollow with solid fill">
            <a:extLst>
              <a:ext uri="{FF2B5EF4-FFF2-40B4-BE49-F238E27FC236}">
                <a16:creationId xmlns:a16="http://schemas.microsoft.com/office/drawing/2014/main" id="{E2666F14-6C5E-303B-3218-322D7BCB82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0150" y="4260314"/>
            <a:ext cx="914400" cy="914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707A41C-5826-823D-174D-DFC4B8BB9E46}"/>
              </a:ext>
            </a:extLst>
          </p:cNvPr>
          <p:cNvGrpSpPr/>
          <p:nvPr/>
        </p:nvGrpSpPr>
        <p:grpSpPr>
          <a:xfrm>
            <a:off x="10343170" y="4928616"/>
            <a:ext cx="1664208" cy="1819656"/>
            <a:chOff x="8906256" y="4828032"/>
            <a:chExt cx="1664208" cy="19202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475F084-7B84-88D5-E1A7-78607D57880B}"/>
                </a:ext>
              </a:extLst>
            </p:cNvPr>
            <p:cNvSpPr/>
            <p:nvPr/>
          </p:nvSpPr>
          <p:spPr>
            <a:xfrm>
              <a:off x="8906256" y="4828032"/>
              <a:ext cx="1664208" cy="192024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Seed Packet with solid fill">
              <a:extLst>
                <a:ext uri="{FF2B5EF4-FFF2-40B4-BE49-F238E27FC236}">
                  <a16:creationId xmlns:a16="http://schemas.microsoft.com/office/drawing/2014/main" id="{96B100C1-1FA2-CB36-C018-6A4730C6B1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130679" y="5111496"/>
              <a:ext cx="1215362" cy="1215362"/>
            </a:xfrm>
            <a:prstGeom prst="rect">
              <a:avLst/>
            </a:prstGeom>
          </p:spPr>
        </p:pic>
      </p:grpSp>
      <p:pic>
        <p:nvPicPr>
          <p:cNvPr id="21" name="Picture 20" descr="Token Images - Free Download on Freepik">
            <a:extLst>
              <a:ext uri="{FF2B5EF4-FFF2-40B4-BE49-F238E27FC236}">
                <a16:creationId xmlns:a16="http://schemas.microsoft.com/office/drawing/2014/main" id="{4FD55CAC-A2F2-6591-9453-A803220FD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738" y="3639949"/>
            <a:ext cx="722591" cy="72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Token Images - Free Download on Freepik">
            <a:extLst>
              <a:ext uri="{FF2B5EF4-FFF2-40B4-BE49-F238E27FC236}">
                <a16:creationId xmlns:a16="http://schemas.microsoft.com/office/drawing/2014/main" id="{1EF9D6E9-4AF9-85BE-C215-48C707E69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303" y="3673872"/>
            <a:ext cx="722591" cy="72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E3CF95B-3E91-E491-5D1A-C0AA0E7F63CB}"/>
              </a:ext>
            </a:extLst>
          </p:cNvPr>
          <p:cNvSpPr txBox="1"/>
          <p:nvPr/>
        </p:nvSpPr>
        <p:spPr>
          <a:xfrm>
            <a:off x="5230984" y="3835113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038C20-9158-74EC-E1A1-3FB1B8BAE918}"/>
              </a:ext>
            </a:extLst>
          </p:cNvPr>
          <p:cNvSpPr txBox="1"/>
          <p:nvPr/>
        </p:nvSpPr>
        <p:spPr>
          <a:xfrm>
            <a:off x="8685978" y="3860204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E19925-5978-5B0B-B660-CF45495B3111}"/>
              </a:ext>
            </a:extLst>
          </p:cNvPr>
          <p:cNvSpPr txBox="1"/>
          <p:nvPr/>
        </p:nvSpPr>
        <p:spPr>
          <a:xfrm>
            <a:off x="60401" y="247994"/>
            <a:ext cx="7840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2, Version 2 decision screen. Total in the lock box should update as participants select input purchase amounts. </a:t>
            </a:r>
          </a:p>
        </p:txBody>
      </p:sp>
    </p:spTree>
    <p:extLst>
      <p:ext uri="{BB962C8B-B14F-4D97-AF65-F5344CB8AC3E}">
        <p14:creationId xmlns:p14="http://schemas.microsoft.com/office/powerpoint/2010/main" val="2585608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368077-260A-E9B7-E3AE-0424AC900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41" y="5347841"/>
            <a:ext cx="1333924" cy="1333924"/>
          </a:xfrm>
          <a:prstGeom prst="rect">
            <a:avLst/>
          </a:prstGeom>
        </p:spPr>
      </p:pic>
      <p:pic>
        <p:nvPicPr>
          <p:cNvPr id="5" name="Picture 4" descr="Token Images - Free Download on Freepik">
            <a:extLst>
              <a:ext uri="{FF2B5EF4-FFF2-40B4-BE49-F238E27FC236}">
                <a16:creationId xmlns:a16="http://schemas.microsoft.com/office/drawing/2014/main" id="{16523908-B6AA-6A32-0EE6-84C3F3C0E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44" y="2753371"/>
            <a:ext cx="901854" cy="90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2B4052-6A5F-11FA-F4BE-72BD0E72891A}"/>
              </a:ext>
            </a:extLst>
          </p:cNvPr>
          <p:cNvSpPr txBox="1"/>
          <p:nvPr/>
        </p:nvSpPr>
        <p:spPr>
          <a:xfrm>
            <a:off x="-305705" y="3655225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25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C4193B9-34D4-BA32-8D79-BD5A08D68C2D}"/>
              </a:ext>
            </a:extLst>
          </p:cNvPr>
          <p:cNvSpPr/>
          <p:nvPr/>
        </p:nvSpPr>
        <p:spPr>
          <a:xfrm>
            <a:off x="1246568" y="3085418"/>
            <a:ext cx="621792" cy="438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Fertilizer Bag Stock Illustrations ...">
            <a:extLst>
              <a:ext uri="{FF2B5EF4-FFF2-40B4-BE49-F238E27FC236}">
                <a16:creationId xmlns:a16="http://schemas.microsoft.com/office/drawing/2014/main" id="{3FAE7FC6-BD1B-A1DD-E934-31EF91C447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t="14308" b="12605"/>
          <a:stretch>
            <a:fillRect/>
          </a:stretch>
        </p:blipFill>
        <p:spPr bwMode="auto">
          <a:xfrm>
            <a:off x="1987560" y="457539"/>
            <a:ext cx="1698487" cy="114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520+ Seed Packet Stock Illustrations ...">
            <a:extLst>
              <a:ext uri="{FF2B5EF4-FFF2-40B4-BE49-F238E27FC236}">
                <a16:creationId xmlns:a16="http://schemas.microsoft.com/office/drawing/2014/main" id="{17A4D24B-1ACB-A8AC-306A-4603D6DAD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3" t="13086" r="9369" b="8908"/>
          <a:stretch>
            <a:fillRect/>
          </a:stretch>
        </p:blipFill>
        <p:spPr bwMode="auto">
          <a:xfrm>
            <a:off x="2105120" y="2121205"/>
            <a:ext cx="1378458" cy="119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Agricultural Insurance Icons: Over 3,064 Royalty-Free Licensable Stock  Illustrations &amp; Drawings | Shutterstock">
            <a:extLst>
              <a:ext uri="{FF2B5EF4-FFF2-40B4-BE49-F238E27FC236}">
                <a16:creationId xmlns:a16="http://schemas.microsoft.com/office/drawing/2014/main" id="{6103CD99-4B00-FD94-3DBC-A7ABA137AC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59" t="55440" r="3265" b="4240"/>
          <a:stretch>
            <a:fillRect/>
          </a:stretch>
        </p:blipFill>
        <p:spPr bwMode="auto">
          <a:xfrm>
            <a:off x="2307461" y="3792474"/>
            <a:ext cx="1058684" cy="105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C45794-4E73-4C55-4D6A-BF1B1CD94E7F}"/>
              </a:ext>
            </a:extLst>
          </p:cNvPr>
          <p:cNvSpPr txBox="1"/>
          <p:nvPr/>
        </p:nvSpPr>
        <p:spPr>
          <a:xfrm>
            <a:off x="3056334" y="676817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49BF85-99D5-0CA7-C752-8E0F5574F8DB}"/>
              </a:ext>
            </a:extLst>
          </p:cNvPr>
          <p:cNvSpPr txBox="1"/>
          <p:nvPr/>
        </p:nvSpPr>
        <p:spPr>
          <a:xfrm>
            <a:off x="3056331" y="2193084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0C366F-F570-4DAA-3AFF-911F54840599}"/>
              </a:ext>
            </a:extLst>
          </p:cNvPr>
          <p:cNvSpPr txBox="1"/>
          <p:nvPr/>
        </p:nvSpPr>
        <p:spPr>
          <a:xfrm>
            <a:off x="3056333" y="4020686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0C7DE-BCA3-6753-E194-FAE400DCA7D6}"/>
              </a:ext>
            </a:extLst>
          </p:cNvPr>
          <p:cNvSpPr txBox="1"/>
          <p:nvPr/>
        </p:nvSpPr>
        <p:spPr>
          <a:xfrm>
            <a:off x="3056332" y="5706298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10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8A0285-10F0-2266-3EC7-E65F3BEA45DA}"/>
              </a:ext>
            </a:extLst>
          </p:cNvPr>
          <p:cNvGrpSpPr/>
          <p:nvPr/>
        </p:nvGrpSpPr>
        <p:grpSpPr>
          <a:xfrm>
            <a:off x="4849009" y="1104823"/>
            <a:ext cx="2159138" cy="3961190"/>
            <a:chOff x="4676775" y="685800"/>
            <a:chExt cx="2838450" cy="5222420"/>
          </a:xfrm>
        </p:grpSpPr>
        <p:pic>
          <p:nvPicPr>
            <p:cNvPr id="16" name="Graphic 15" descr="Cloud outline">
              <a:extLst>
                <a:ext uri="{FF2B5EF4-FFF2-40B4-BE49-F238E27FC236}">
                  <a16:creationId xmlns:a16="http://schemas.microsoft.com/office/drawing/2014/main" id="{F8F01A26-A3F1-45DF-42BB-1C2AE886E4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76158" y="685800"/>
              <a:ext cx="1948542" cy="1948542"/>
            </a:xfrm>
            <a:prstGeom prst="rect">
              <a:avLst/>
            </a:prstGeom>
          </p:spPr>
        </p:pic>
        <p:pic>
          <p:nvPicPr>
            <p:cNvPr id="17" name="Picture 2" descr="30+ Dead Crop Field Stock Illustrations, Royalty-Free Vector Graphics &amp;  Clip Art - iStock">
              <a:extLst>
                <a:ext uri="{FF2B5EF4-FFF2-40B4-BE49-F238E27FC236}">
                  <a16:creationId xmlns:a16="http://schemas.microsoft.com/office/drawing/2014/main" id="{E8975ACF-7359-45C0-8326-1BFD6E1512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6775" y="3069770"/>
              <a:ext cx="2838450" cy="2838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B6FFB11-6859-091F-78BC-E73CA28A5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005" y="5524076"/>
            <a:ext cx="1333924" cy="1333924"/>
          </a:xfrm>
          <a:prstGeom prst="rect">
            <a:avLst/>
          </a:prstGeom>
        </p:spPr>
      </p:pic>
      <p:pic>
        <p:nvPicPr>
          <p:cNvPr id="20" name="Picture 4" descr="Fertilizer Bag Stock Illustrations ...">
            <a:extLst>
              <a:ext uri="{FF2B5EF4-FFF2-40B4-BE49-F238E27FC236}">
                <a16:creationId xmlns:a16="http://schemas.microsoft.com/office/drawing/2014/main" id="{04E5312A-7D5A-5371-4617-CC689B958F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0" t="14308" b="12605"/>
          <a:stretch>
            <a:fillRect/>
          </a:stretch>
        </p:blipFill>
        <p:spPr bwMode="auto">
          <a:xfrm>
            <a:off x="7573724" y="633774"/>
            <a:ext cx="1698487" cy="114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520+ Seed Packet Stock Illustrations ...">
            <a:extLst>
              <a:ext uri="{FF2B5EF4-FFF2-40B4-BE49-F238E27FC236}">
                <a16:creationId xmlns:a16="http://schemas.microsoft.com/office/drawing/2014/main" id="{28BCD102-17BC-1A13-0EE1-349A4F1D0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3" t="13086" r="9369" b="8908"/>
          <a:stretch>
            <a:fillRect/>
          </a:stretch>
        </p:blipFill>
        <p:spPr bwMode="auto">
          <a:xfrm>
            <a:off x="7691284" y="2297440"/>
            <a:ext cx="1378458" cy="1199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Agricultural Insurance Icons: Over 3,064 Royalty-Free Licensable Stock  Illustrations &amp; Drawings | Shutterstock">
            <a:extLst>
              <a:ext uri="{FF2B5EF4-FFF2-40B4-BE49-F238E27FC236}">
                <a16:creationId xmlns:a16="http://schemas.microsoft.com/office/drawing/2014/main" id="{6E2B641A-7B3E-9D20-C8F0-DB5E7E72B7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59" t="55440" r="3265" b="4240"/>
          <a:stretch>
            <a:fillRect/>
          </a:stretch>
        </p:blipFill>
        <p:spPr bwMode="auto">
          <a:xfrm>
            <a:off x="7893625" y="3968709"/>
            <a:ext cx="1058684" cy="105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D9A6237-8EAA-B360-7613-A8BA4B1C0FC5}"/>
              </a:ext>
            </a:extLst>
          </p:cNvPr>
          <p:cNvSpPr txBox="1"/>
          <p:nvPr/>
        </p:nvSpPr>
        <p:spPr>
          <a:xfrm>
            <a:off x="8642498" y="853052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E0D21C-3E7C-5355-C211-6395BD98C781}"/>
              </a:ext>
            </a:extLst>
          </p:cNvPr>
          <p:cNvSpPr txBox="1"/>
          <p:nvPr/>
        </p:nvSpPr>
        <p:spPr>
          <a:xfrm>
            <a:off x="8642495" y="2369319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D14DAA-525C-AC1D-0E5B-736EA4ACBE7A}"/>
              </a:ext>
            </a:extLst>
          </p:cNvPr>
          <p:cNvSpPr txBox="1"/>
          <p:nvPr/>
        </p:nvSpPr>
        <p:spPr>
          <a:xfrm>
            <a:off x="8642497" y="4196921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009FD-A756-AC01-CC7E-675B4680B042}"/>
              </a:ext>
            </a:extLst>
          </p:cNvPr>
          <p:cNvSpPr txBox="1"/>
          <p:nvPr/>
        </p:nvSpPr>
        <p:spPr>
          <a:xfrm>
            <a:off x="8512530" y="5834670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10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D1FE2F0-CA78-0FE2-C542-B3AF41235199}"/>
              </a:ext>
            </a:extLst>
          </p:cNvPr>
          <p:cNvSpPr/>
          <p:nvPr/>
        </p:nvSpPr>
        <p:spPr>
          <a:xfrm>
            <a:off x="10020953" y="3037608"/>
            <a:ext cx="621792" cy="438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Token Images - Free Download on Freepik">
            <a:extLst>
              <a:ext uri="{FF2B5EF4-FFF2-40B4-BE49-F238E27FC236}">
                <a16:creationId xmlns:a16="http://schemas.microsoft.com/office/drawing/2014/main" id="{EAC0559B-7C4A-160B-5B73-8180C58B1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1689" y="2475122"/>
            <a:ext cx="901854" cy="90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77D938A-3DA1-D246-1C0B-AFA74C2CD19A}"/>
              </a:ext>
            </a:extLst>
          </p:cNvPr>
          <p:cNvSpPr txBox="1"/>
          <p:nvPr/>
        </p:nvSpPr>
        <p:spPr>
          <a:xfrm>
            <a:off x="10308140" y="3376976"/>
            <a:ext cx="1968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10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7D21D2-49FA-A0CC-8574-DB5AF0C5C2F2}"/>
              </a:ext>
            </a:extLst>
          </p:cNvPr>
          <p:cNvSpPr/>
          <p:nvPr/>
        </p:nvSpPr>
        <p:spPr>
          <a:xfrm>
            <a:off x="1987560" y="155206"/>
            <a:ext cx="2436378" cy="656539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F118EA-E735-E517-E1D9-E6CDEFD88DBD}"/>
              </a:ext>
            </a:extLst>
          </p:cNvPr>
          <p:cNvSpPr/>
          <p:nvPr/>
        </p:nvSpPr>
        <p:spPr>
          <a:xfrm>
            <a:off x="7467705" y="155553"/>
            <a:ext cx="2436378" cy="656539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B16D29-4C53-CDEC-40E0-ED6486AAD0F7}"/>
              </a:ext>
            </a:extLst>
          </p:cNvPr>
          <p:cNvSpPr/>
          <p:nvPr/>
        </p:nvSpPr>
        <p:spPr>
          <a:xfrm>
            <a:off x="1348018" y="42040"/>
            <a:ext cx="959443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 descr="Seed Packet with solid fill">
            <a:extLst>
              <a:ext uri="{FF2B5EF4-FFF2-40B4-BE49-F238E27FC236}">
                <a16:creationId xmlns:a16="http://schemas.microsoft.com/office/drawing/2014/main" id="{FCA7DE8B-94EF-98C2-CD4D-4EC7BED94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42277" y="52786"/>
            <a:ext cx="851292" cy="80017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4924898-C708-C4BA-60D8-9B9C01DC77D2}"/>
              </a:ext>
            </a:extLst>
          </p:cNvPr>
          <p:cNvSpPr/>
          <p:nvPr/>
        </p:nvSpPr>
        <p:spPr>
          <a:xfrm>
            <a:off x="6864224" y="37378"/>
            <a:ext cx="959443" cy="83099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 descr="Crops with solid fill">
            <a:extLst>
              <a:ext uri="{FF2B5EF4-FFF2-40B4-BE49-F238E27FC236}">
                <a16:creationId xmlns:a16="http://schemas.microsoft.com/office/drawing/2014/main" id="{15D4EA35-2B32-D36D-EF98-FBC50D568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92588" y="-6511"/>
            <a:ext cx="914400" cy="9144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CC5ABE1-7CD4-EC14-6E49-DE980A462C48}"/>
              </a:ext>
            </a:extLst>
          </p:cNvPr>
          <p:cNvSpPr txBox="1"/>
          <p:nvPr/>
        </p:nvSpPr>
        <p:spPr>
          <a:xfrm>
            <a:off x="2984" y="668385"/>
            <a:ext cx="1472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payout summary screen</a:t>
            </a:r>
          </a:p>
        </p:txBody>
      </p:sp>
    </p:spTree>
    <p:extLst>
      <p:ext uri="{BB962C8B-B14F-4D97-AF65-F5344CB8AC3E}">
        <p14:creationId xmlns:p14="http://schemas.microsoft.com/office/powerpoint/2010/main" val="867035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151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Trachtman, Carly (IFPRI)</dc:creator>
  <cp:lastModifiedBy>Trachtman, Carly (IFPRI)</cp:lastModifiedBy>
  <cp:revision>2</cp:revision>
  <dcterms:created xsi:type="dcterms:W3CDTF">2026-03-17T15:23:20Z</dcterms:created>
  <dcterms:modified xsi:type="dcterms:W3CDTF">2026-04-01T07:48:46Z</dcterms:modified>
</cp:coreProperties>
</file>